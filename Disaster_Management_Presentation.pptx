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85" r:id="rId5"/>
    <p:sldId id="286" r:id="rId6"/>
    <p:sldId id="260" r:id="rId7"/>
    <p:sldId id="276" r:id="rId8"/>
    <p:sldId id="278" r:id="rId9"/>
    <p:sldId id="280" r:id="rId10"/>
    <p:sldId id="279" r:id="rId11"/>
    <p:sldId id="281" r:id="rId12"/>
    <p:sldId id="283" r:id="rId13"/>
    <p:sldId id="284" r:id="rId14"/>
    <p:sldId id="262" r:id="rId15"/>
    <p:sldId id="277" r:id="rId16"/>
    <p:sldId id="265" r:id="rId17"/>
    <p:sldId id="271" r:id="rId18"/>
    <p:sldId id="275" r:id="rId19"/>
    <p:sldId id="28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579223"/>
            <a:ext cx="6426927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Disaster </a:t>
            </a:r>
            <a:r>
              <a:rPr lang="en-US" sz="4000" dirty="0" smtClean="0"/>
              <a:t>Management &amp; </a:t>
            </a:r>
            <a:br>
              <a:rPr lang="en-US" sz="4000" dirty="0" smtClean="0"/>
            </a:br>
            <a:r>
              <a:rPr lang="en-US" sz="4000" dirty="0" smtClean="0"/>
              <a:t>Emergency response</a:t>
            </a:r>
            <a:endParaRPr sz="400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3725527" y="5164183"/>
            <a:ext cx="5078839" cy="9515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Prepared by STF, Kolkata Police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02" y="824600"/>
            <a:ext cx="3274423" cy="2345319"/>
          </a:xfrm>
          <a:prstGeom prst="rect">
            <a:avLst/>
          </a:prstGeom>
        </p:spPr>
      </p:pic>
      <p:pic>
        <p:nvPicPr>
          <p:cNvPr id="6" name="Picture 5" descr="Gemini_Generated_Image_4nbq9d4nbq9d4nb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95" y="824600"/>
            <a:ext cx="3827837" cy="23453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  <a:defRPr sz="2000"/>
            </a:pPr>
            <a:r>
              <a:rPr smtClean="0"/>
              <a:t> </a:t>
            </a:r>
            <a:r>
              <a:rPr sz="2800"/>
              <a:t>Introduction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Types </a:t>
            </a:r>
            <a:r>
              <a:rPr sz="2800"/>
              <a:t>of Disasters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Causes </a:t>
            </a:r>
            <a:r>
              <a:rPr sz="2800"/>
              <a:t>and </a:t>
            </a:r>
            <a:r>
              <a:rPr sz="2800" smtClean="0"/>
              <a:t>Effects</a:t>
            </a:r>
            <a:endParaRPr lang="en-US" sz="2800" dirty="0" smtClean="0"/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Earthquake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Fire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Cyclone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Human made Disasters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Disaster Emergency Kit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Response </a:t>
            </a:r>
            <a:r>
              <a:rPr sz="2800"/>
              <a:t>and Recovery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Safety </a:t>
            </a:r>
            <a:r>
              <a:rPr sz="2800"/>
              <a:t>Measures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Community </a:t>
            </a:r>
            <a:r>
              <a:rPr sz="2800"/>
              <a:t>Awareness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Conclusion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028" y="513806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Types of Disasters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 sz="2000"/>
            </a:pPr>
            <a:r>
              <a:rPr sz="2400"/>
              <a:t>Disaster management refers to planning, preparedness, response, and recovery activities to reduce the impact of disasters on life and </a:t>
            </a:r>
            <a:r>
              <a:rPr sz="2400"/>
              <a:t>property</a:t>
            </a:r>
            <a:r>
              <a:rPr sz="2400" smtClean="0"/>
              <a:t>.</a:t>
            </a:r>
            <a:endParaRPr lang="en-US" sz="24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2400" dirty="0" smtClean="0"/>
              <a:t>Natural </a:t>
            </a:r>
            <a:r>
              <a:rPr lang="en-US" sz="2400" dirty="0" smtClean="0"/>
              <a:t>disasters</a:t>
            </a:r>
          </a:p>
          <a:p>
            <a:pPr lvl="1" fontAlgn="base">
              <a:buFont typeface="Wingdings" pitchFamily="2" charset="2"/>
              <a:buChar char="Ø"/>
            </a:pPr>
            <a:r>
              <a:rPr lang="en-US" dirty="0" smtClean="0"/>
              <a:t> </a:t>
            </a:r>
            <a:r>
              <a:rPr lang="en-US" sz="2000" dirty="0" smtClean="0"/>
              <a:t>Earthquakes, Floods, Cyclone,</a:t>
            </a:r>
            <a:r>
              <a:rPr lang="en-US" sz="2000" dirty="0" smtClean="0"/>
              <a:t> </a:t>
            </a:r>
            <a:r>
              <a:rPr lang="en-US" sz="2000" dirty="0" smtClean="0"/>
              <a:t>Tsunamis</a:t>
            </a:r>
            <a:r>
              <a:rPr lang="en-US" sz="2000" dirty="0" smtClean="0"/>
              <a:t>, </a:t>
            </a:r>
            <a:r>
              <a:rPr lang="en-US" sz="2000" dirty="0" smtClean="0"/>
              <a:t>Landslides</a:t>
            </a:r>
            <a:r>
              <a:rPr lang="en-US" sz="2000" dirty="0" smtClean="0"/>
              <a:t>,  </a:t>
            </a:r>
            <a:r>
              <a:rPr lang="en-US" sz="2000" dirty="0" smtClean="0"/>
              <a:t>Droughts.</a:t>
            </a:r>
            <a:endParaRPr lang="en-US" sz="20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2400" dirty="0" smtClean="0"/>
              <a:t>Technological/industrial disasters </a:t>
            </a:r>
            <a:endParaRPr lang="en-US" sz="2400" dirty="0" smtClean="0"/>
          </a:p>
          <a:p>
            <a:pPr lvl="1" fontAlgn="base">
              <a:buFont typeface="Wingdings" pitchFamily="2" charset="2"/>
              <a:buChar char="Ø"/>
            </a:pPr>
            <a:r>
              <a:rPr lang="en-US" sz="2000" dirty="0" smtClean="0"/>
              <a:t>C</a:t>
            </a:r>
            <a:r>
              <a:rPr lang="en-US" sz="2000" dirty="0" smtClean="0"/>
              <a:t>hemical</a:t>
            </a:r>
            <a:r>
              <a:rPr lang="en-US" sz="2000" dirty="0" smtClean="0"/>
              <a:t> spills, </a:t>
            </a:r>
            <a:r>
              <a:rPr lang="en-US" sz="2000" dirty="0" smtClean="0"/>
              <a:t>Nuclear</a:t>
            </a:r>
            <a:r>
              <a:rPr lang="en-US" sz="2000" dirty="0" smtClean="0"/>
              <a:t> accidents, </a:t>
            </a:r>
            <a:r>
              <a:rPr lang="en-US" sz="2000" dirty="0" smtClean="0"/>
              <a:t>Dam</a:t>
            </a:r>
            <a:r>
              <a:rPr lang="en-US" sz="2000" dirty="0" smtClean="0"/>
              <a:t> failures</a:t>
            </a:r>
            <a:r>
              <a:rPr lang="en-US" sz="2000" dirty="0" smtClean="0"/>
              <a:t>, major</a:t>
            </a:r>
            <a:r>
              <a:rPr lang="en-US" sz="2000" dirty="0" smtClean="0"/>
              <a:t> </a:t>
            </a:r>
            <a:r>
              <a:rPr lang="en-US" sz="2000" dirty="0" smtClean="0"/>
              <a:t>fires.</a:t>
            </a:r>
            <a:endParaRPr lang="en-US" sz="20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2400" dirty="0" smtClean="0"/>
              <a:t>Human made</a:t>
            </a:r>
            <a:r>
              <a:rPr lang="en-US" sz="2400" dirty="0" smtClean="0"/>
              <a:t> disasters </a:t>
            </a:r>
            <a:endParaRPr lang="en-US" sz="2400" dirty="0" smtClean="0"/>
          </a:p>
          <a:p>
            <a:pPr lvl="1" fontAlgn="base">
              <a:buFont typeface="Wingdings" pitchFamily="2" charset="2"/>
              <a:buChar char="Ø"/>
            </a:pPr>
            <a:r>
              <a:rPr lang="en-US" sz="2000" dirty="0" smtClean="0"/>
              <a:t>T</a:t>
            </a:r>
            <a:r>
              <a:rPr lang="en-US" sz="2000" dirty="0" smtClean="0"/>
              <a:t>errorism</a:t>
            </a:r>
            <a:r>
              <a:rPr lang="en-US" sz="2000" dirty="0" smtClean="0"/>
              <a:t>, </a:t>
            </a:r>
            <a:r>
              <a:rPr lang="en-US" sz="2000" dirty="0" smtClean="0"/>
              <a:t>Armed</a:t>
            </a:r>
            <a:r>
              <a:rPr lang="en-US" sz="2000" dirty="0" smtClean="0"/>
              <a:t> conflict, </a:t>
            </a:r>
            <a:r>
              <a:rPr lang="en-US" sz="2000" dirty="0" smtClean="0"/>
              <a:t>Mass-casualty</a:t>
            </a:r>
            <a:r>
              <a:rPr lang="en-US" sz="2000" dirty="0" smtClean="0"/>
              <a:t> </a:t>
            </a:r>
            <a:r>
              <a:rPr lang="en-US" sz="2000" dirty="0" smtClean="0"/>
              <a:t>incidents.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" y="551906"/>
            <a:ext cx="8229600" cy="533400"/>
          </a:xfrm>
        </p:spPr>
        <p:txBody>
          <a:bodyPr>
            <a:normAutofit/>
          </a:bodyPr>
          <a:lstStyle/>
          <a:p>
            <a:pPr algn="ctr"/>
            <a:r>
              <a:rPr sz="3000" smtClean="0"/>
              <a:t>Causes of Disasters</a:t>
            </a:r>
            <a:endParaRPr sz="3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5305"/>
            <a:ext cx="8229600" cy="5663837"/>
          </a:xfrm>
        </p:spPr>
        <p:txBody>
          <a:bodyPr>
            <a:noAutofit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Natural </a:t>
            </a:r>
            <a:r>
              <a:rPr lang="en-US" sz="1400" dirty="0" smtClean="0"/>
              <a:t>hazards</a:t>
            </a:r>
            <a:r>
              <a:rPr lang="en-US" sz="1400" dirty="0" smtClean="0"/>
              <a:t> </a:t>
            </a:r>
            <a:endParaRPr lang="en-US" sz="14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E</a:t>
            </a:r>
            <a:r>
              <a:rPr lang="en-US" sz="1200" dirty="0" smtClean="0"/>
              <a:t>arthquakes</a:t>
            </a:r>
            <a:r>
              <a:rPr lang="en-US" sz="1200" dirty="0" smtClean="0"/>
              <a:t>, hurricanes/cyclones, floods, tsunamis, volcanic eruptions, landslides, droughts, extreme heat, wildfires.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Geological</a:t>
            </a:r>
            <a:r>
              <a:rPr lang="en-US" sz="1400" dirty="0" smtClean="0"/>
              <a:t> </a:t>
            </a:r>
            <a:r>
              <a:rPr lang="en-US" sz="1400" dirty="0" smtClean="0"/>
              <a:t>processes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 </a:t>
            </a:r>
            <a:r>
              <a:rPr lang="en-US" sz="1200" dirty="0" smtClean="0"/>
              <a:t>Tectonic</a:t>
            </a:r>
            <a:r>
              <a:rPr lang="en-US" sz="1200" dirty="0" smtClean="0"/>
              <a:t> plate movement, soil erosion, subsidence, volcanic activity.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Biological </a:t>
            </a:r>
            <a:r>
              <a:rPr lang="en-US" sz="1400" dirty="0" smtClean="0"/>
              <a:t>hazards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 </a:t>
            </a:r>
            <a:r>
              <a:rPr lang="en-US" sz="1200" dirty="0" smtClean="0"/>
              <a:t>Disease</a:t>
            </a:r>
            <a:r>
              <a:rPr lang="en-US" sz="1200" dirty="0" smtClean="0"/>
              <a:t> outbreaks, pest infestations, invasive species.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Human error and </a:t>
            </a:r>
            <a:r>
              <a:rPr lang="en-US" sz="1400" dirty="0" smtClean="0"/>
              <a:t>negligence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U</a:t>
            </a:r>
            <a:r>
              <a:rPr lang="en-US" sz="1200" dirty="0" smtClean="0"/>
              <a:t>nsafe</a:t>
            </a:r>
            <a:r>
              <a:rPr lang="en-US" sz="1200" dirty="0" smtClean="0"/>
              <a:t> building practices, poor land-use planning, lack of maintenance (dams, levees, infrastructure).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Technological/industrial </a:t>
            </a:r>
            <a:r>
              <a:rPr lang="en-US" sz="1400" dirty="0" smtClean="0"/>
              <a:t>failures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C</a:t>
            </a:r>
            <a:r>
              <a:rPr lang="en-US" sz="1200" dirty="0" smtClean="0"/>
              <a:t>hemical</a:t>
            </a:r>
            <a:r>
              <a:rPr lang="en-US" sz="1200" dirty="0" smtClean="0"/>
              <a:t> spills, explosions, nuclear accidents, pipeline ruptures, fires.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Infrastructure </a:t>
            </a:r>
            <a:r>
              <a:rPr lang="en-US" sz="1400" dirty="0" smtClean="0"/>
              <a:t>collapse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B</a:t>
            </a:r>
            <a:r>
              <a:rPr lang="en-US" sz="1200" dirty="0" smtClean="0"/>
              <a:t>ridge</a:t>
            </a:r>
            <a:r>
              <a:rPr lang="en-US" sz="1200" dirty="0" smtClean="0"/>
              <a:t>, building, or dam failure due to design flaws, age, or overload.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Climate change and environmental degradation: </a:t>
            </a:r>
            <a:endParaRPr lang="en-US" sz="14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S</a:t>
            </a:r>
            <a:r>
              <a:rPr lang="en-US" sz="1200" dirty="0" smtClean="0"/>
              <a:t>ea-level</a:t>
            </a:r>
            <a:r>
              <a:rPr lang="en-US" sz="1200" dirty="0" smtClean="0"/>
              <a:t> rise, altered rainfall patterns, increased storm intensity, deforestation, loss of wetlands.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Socioeconomic </a:t>
            </a:r>
            <a:r>
              <a:rPr lang="en-US" sz="1400" dirty="0" smtClean="0"/>
              <a:t>factors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P</a:t>
            </a:r>
            <a:r>
              <a:rPr lang="en-US" sz="1200" dirty="0" smtClean="0"/>
              <a:t>overty</a:t>
            </a:r>
            <a:r>
              <a:rPr lang="en-US" sz="1200" dirty="0" smtClean="0"/>
              <a:t>, overcrowding, weak governance, limited emergency services, lack of resilience and preparedness.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Conflict and </a:t>
            </a:r>
            <a:r>
              <a:rPr lang="en-US" sz="1400" dirty="0" smtClean="0"/>
              <a:t>violence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A</a:t>
            </a:r>
            <a:r>
              <a:rPr lang="en-US" sz="1200" dirty="0" smtClean="0"/>
              <a:t>rmed</a:t>
            </a:r>
            <a:r>
              <a:rPr lang="en-US" sz="1200" dirty="0" smtClean="0"/>
              <a:t> conflict, terrorism, civil unrest causing humanitarian crises.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400" dirty="0" smtClean="0"/>
              <a:t>Cascading/compound </a:t>
            </a:r>
            <a:r>
              <a:rPr lang="en-US" sz="1400" dirty="0" smtClean="0"/>
              <a:t>events	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1200" dirty="0" smtClean="0"/>
              <a:t>O</a:t>
            </a:r>
            <a:r>
              <a:rPr lang="en-US" sz="1200" dirty="0" smtClean="0"/>
              <a:t>ne</a:t>
            </a:r>
            <a:r>
              <a:rPr lang="en-US" sz="1200" dirty="0" smtClean="0"/>
              <a:t> event triggering others (earthquake → tsunami → industrial spill; storm → power outage → critical-service failure).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575"/>
            <a:ext cx="8229600" cy="603068"/>
          </a:xfrm>
        </p:spPr>
        <p:txBody>
          <a:bodyPr>
            <a:normAutofit/>
          </a:bodyPr>
          <a:lstStyle/>
          <a:p>
            <a:pPr algn="ctr"/>
            <a:r>
              <a:rPr sz="3600"/>
              <a:t>Effects of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4643"/>
            <a:ext cx="8564880" cy="5463540"/>
          </a:xfrm>
        </p:spPr>
        <p:txBody>
          <a:bodyPr>
            <a:noAutofit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Loss of life and injuries; long-term physical and mental health impacts.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Damage to homes, buildings, and critical infrastructure (roads, bridges, utilities).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Displacement and homelessness; disruption of community cohesion.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Economic losses: business interruption, job loss, reduced income, high reconstruction costs.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Disruption of essential services: electricity, water supply, sanitation, healthcare, transport, communications.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Food and water insecurity; supply chain breakdowns.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Environmental damage: pollution, habitat loss, soil erosion, coastal erosion.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Public health risks: outbreaks of disease, contamination, poor sanitation, malnutrition.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Education interruption: school closures and loss of learning time.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Psychological and social effects: trauma, anxiety, depression, increased domestic stress and social tensions.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Increased vulnerability and poverty, especially for marginalized groups.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Strain on emergency services and humanitarian systems; resource scarcity.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Governance and institutional stress: weakened capacity, delayed recovery, policy and planning challenges.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Cultural loss: damage to heritage sites, loss of cultural artifacts and community identity.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Long-term development setbacks and reduced investor confidence.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" y="13258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Earthquake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0789"/>
            <a:ext cx="8512629" cy="5164182"/>
          </a:xfrm>
        </p:spPr>
        <p:txBody>
          <a:bodyPr>
            <a:normAutofit fontScale="700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Safety Measures 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u="sng" dirty="0" smtClean="0"/>
              <a:t>Before </a:t>
            </a:r>
            <a:r>
              <a:rPr lang="en-US" u="sng" dirty="0" smtClean="0"/>
              <a:t>an </a:t>
            </a:r>
            <a:r>
              <a:rPr lang="en-US" u="sng" dirty="0" smtClean="0"/>
              <a:t>earthquake </a:t>
            </a:r>
            <a:endParaRPr lang="en-US" u="sng" dirty="0" smtClean="0"/>
          </a:p>
          <a:p>
            <a:pPr lvl="2" fontAlgn="base"/>
            <a:r>
              <a:rPr lang="en-US" dirty="0" smtClean="0"/>
              <a:t>Secure home: anchor heavy </a:t>
            </a:r>
            <a:r>
              <a:rPr lang="en-US" dirty="0" smtClean="0"/>
              <a:t>furniture/appliances</a:t>
            </a:r>
            <a:endParaRPr lang="en-US" dirty="0" smtClean="0"/>
          </a:p>
          <a:p>
            <a:pPr lvl="2" fontAlgn="base"/>
            <a:r>
              <a:rPr lang="en-US" dirty="0" smtClean="0"/>
              <a:t>Strengthen structure: repair cracks, reinforce walls, bolt foundation if needed.</a:t>
            </a:r>
          </a:p>
          <a:p>
            <a:pPr lvl="2" fontAlgn="base"/>
            <a:r>
              <a:rPr lang="en-US" dirty="0" smtClean="0"/>
              <a:t>Plan &amp; practice: set meeting points, evacuation routes; run Drop–Cover–Hold On drills.</a:t>
            </a:r>
          </a:p>
          <a:p>
            <a:pPr lvl="2" fontAlgn="base"/>
            <a:r>
              <a:rPr lang="en-US" dirty="0" smtClean="0"/>
              <a:t>Know utilities: locate and label gas/water/electric shutoffs; keep a wrench nearby.</a:t>
            </a:r>
          </a:p>
          <a:p>
            <a:pPr lvl="2" fontAlgn="base"/>
            <a:r>
              <a:rPr lang="en-US" dirty="0" smtClean="0"/>
              <a:t>Prepare communications: designate out-of-area contact; save emergency numbers on paper.</a:t>
            </a:r>
          </a:p>
          <a:p>
            <a:pPr lvl="2" fontAlgn="base"/>
            <a:r>
              <a:rPr lang="en-US" dirty="0" smtClean="0"/>
              <a:t>Emergency kit ready: water, food, first-aid, flashlight, radio, power bank, cash, important documents.</a:t>
            </a:r>
          </a:p>
          <a:p>
            <a:pPr lvl="2" fontAlgn="base"/>
            <a:r>
              <a:rPr lang="en-US" dirty="0" smtClean="0"/>
              <a:t>Vehicle readiness: keep fuel topped; park away from buildings when storm </a:t>
            </a:r>
            <a:r>
              <a:rPr lang="en-US" dirty="0" smtClean="0"/>
              <a:t>predicted.</a:t>
            </a:r>
          </a:p>
          <a:p>
            <a:pPr lvl="2" fontAlgn="base"/>
            <a:endParaRPr lang="en-US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u="sng" dirty="0" smtClean="0"/>
              <a:t>After </a:t>
            </a:r>
            <a:r>
              <a:rPr lang="en-US" u="sng" dirty="0" smtClean="0"/>
              <a:t>an </a:t>
            </a:r>
            <a:r>
              <a:rPr lang="en-US" u="sng" dirty="0" smtClean="0"/>
              <a:t>earthquake</a:t>
            </a:r>
            <a:endParaRPr lang="en-US" u="sng" dirty="0" smtClean="0"/>
          </a:p>
          <a:p>
            <a:pPr lvl="2" fontAlgn="base"/>
            <a:r>
              <a:rPr lang="en-US" dirty="0" smtClean="0"/>
              <a:t>Ensure safety: expect aftershocks; move to open areas if building unsafe.</a:t>
            </a:r>
          </a:p>
          <a:p>
            <a:pPr lvl="2" fontAlgn="base"/>
            <a:r>
              <a:rPr lang="en-US" dirty="0" smtClean="0"/>
              <a:t>Check people: perform quick triage; treat injuries; call EMS for serious cases.</a:t>
            </a:r>
          </a:p>
          <a:p>
            <a:pPr lvl="2" fontAlgn="base"/>
            <a:r>
              <a:rPr lang="en-US" dirty="0" smtClean="0"/>
              <a:t>Assess hazards: smell for gas, check for fires, downed power lines, and structural damage.</a:t>
            </a:r>
          </a:p>
          <a:p>
            <a:pPr lvl="2" fontAlgn="base"/>
            <a:r>
              <a:rPr lang="en-US" dirty="0" smtClean="0"/>
              <a:t>Utilities &amp; fires: shut off gas only if leak suspected; avoid using flames; report hazards.</a:t>
            </a:r>
          </a:p>
          <a:p>
            <a:pPr lvl="2" fontAlgn="base"/>
            <a:r>
              <a:rPr lang="en-US" dirty="0" smtClean="0"/>
              <a:t>Building inspection: do not re-enter until officially declared safe.</a:t>
            </a:r>
          </a:p>
          <a:p>
            <a:pPr lvl="2" fontAlgn="base"/>
            <a:r>
              <a:rPr lang="en-US" dirty="0" smtClean="0"/>
              <a:t>Basic needs: use emergency kit supplies; avoid contaminated water; follow boil-water advisories.</a:t>
            </a:r>
          </a:p>
          <a:p>
            <a:pPr lvl="2" fontAlgn="base"/>
            <a:r>
              <a:rPr lang="en-US" dirty="0" smtClean="0"/>
              <a:t>Support &amp; security: assist neighbors (elderly/disabled); secure property where possible; report looting.</a:t>
            </a:r>
          </a:p>
          <a:p>
            <a:pPr lvl="2" fontAlgn="base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8971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Do’s &amp; Don’ts during Earthquake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971"/>
            <a:ext cx="8686800" cy="4389120"/>
          </a:xfrm>
        </p:spPr>
        <p:txBody>
          <a:bodyPr>
            <a:normAutofit fontScale="775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Do’s</a:t>
            </a:r>
            <a:endParaRPr lang="en-US" dirty="0" smtClean="0"/>
          </a:p>
          <a:p>
            <a:pPr lvl="1" fontAlgn="base"/>
            <a:r>
              <a:rPr lang="en-US" dirty="0" smtClean="0"/>
              <a:t>Do Drop–Cover–Hold On during shaking.</a:t>
            </a:r>
          </a:p>
          <a:p>
            <a:pPr lvl="1" fontAlgn="base"/>
            <a:r>
              <a:rPr lang="en-US" dirty="0" smtClean="0"/>
              <a:t>Do move to open areas only after shaking stops if indoors feels unsafe.</a:t>
            </a:r>
          </a:p>
          <a:p>
            <a:pPr lvl="1" fontAlgn="base"/>
            <a:r>
              <a:rPr lang="en-US" dirty="0" smtClean="0"/>
              <a:t>Do keep emergency kit accessible and practice plans regularly.</a:t>
            </a:r>
          </a:p>
          <a:p>
            <a:pPr lvl="1" fontAlgn="base"/>
            <a:r>
              <a:rPr lang="en-US" dirty="0" smtClean="0"/>
              <a:t>Do check for hazards (gas, electrical, structural) and report to authorities.</a:t>
            </a:r>
          </a:p>
          <a:p>
            <a:pPr lvl="1" fontAlgn="base"/>
            <a:r>
              <a:rPr lang="en-US" dirty="0" smtClean="0"/>
              <a:t>Do help neighbors and vulnerable persons; coordinate with community responders</a:t>
            </a:r>
            <a:r>
              <a:rPr lang="en-US" dirty="0" smtClean="0"/>
              <a:t>.</a:t>
            </a:r>
          </a:p>
          <a:p>
            <a:pPr lvl="1" fontAlgn="base">
              <a:buNone/>
            </a:pPr>
            <a:endParaRPr lang="en-US" dirty="0" smtClean="0"/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Don’ts</a:t>
            </a:r>
            <a:endParaRPr lang="en-US" dirty="0" smtClean="0"/>
          </a:p>
          <a:p>
            <a:pPr lvl="1" fontAlgn="base"/>
            <a:r>
              <a:rPr lang="en-US" dirty="0" smtClean="0"/>
              <a:t>Don’t run outside during shaking (risk of falling debris).</a:t>
            </a:r>
          </a:p>
          <a:p>
            <a:pPr lvl="1" fontAlgn="base"/>
            <a:r>
              <a:rPr lang="en-US" dirty="0" smtClean="0"/>
              <a:t>Don’t use elevators.</a:t>
            </a:r>
          </a:p>
          <a:p>
            <a:pPr lvl="1" fontAlgn="base"/>
            <a:r>
              <a:rPr lang="en-US" dirty="0" smtClean="0"/>
              <a:t>Don’t light matches or use open flames if gas leak suspected.</a:t>
            </a:r>
          </a:p>
          <a:p>
            <a:pPr lvl="1" fontAlgn="base"/>
            <a:r>
              <a:rPr lang="en-US" dirty="0" smtClean="0"/>
              <a:t>Don’t re-enter damaged buildings until professionally inspected.</a:t>
            </a:r>
          </a:p>
          <a:p>
            <a:pPr lvl="1" fontAlgn="base"/>
            <a:r>
              <a:rPr lang="en-US" dirty="0" smtClean="0"/>
              <a:t>Don’t rely solely on mobile </a:t>
            </a:r>
            <a:r>
              <a:rPr lang="en-US" dirty="0" smtClean="0"/>
              <a:t>networks have</a:t>
            </a:r>
            <a:r>
              <a:rPr lang="en-US" dirty="0" smtClean="0"/>
              <a:t> alternative communication plans.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257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What To Do in Case of Fire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6177"/>
            <a:ext cx="8469086" cy="5074920"/>
          </a:xfrm>
        </p:spPr>
        <p:txBody>
          <a:bodyPr>
            <a:normAutofit fontScale="250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Raise alarm and call emergency number immediately; alert others nearby.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If safe, attempt to extinguish small fire with appropriate extinguisher; if not, evacuate.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Stay low to avoid smoke; crawl if necessary.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Use stairs, not elevators, during evacuation.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Close doors behind you to slow fire spread; do not lock them.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Meet at prearranged assembly point and report missing persons to authorities.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Do not re-enter the building until fire service declares it safe</a:t>
            </a:r>
            <a:r>
              <a:rPr lang="en-US" sz="8000" dirty="0" smtClean="0"/>
              <a:t>.</a:t>
            </a:r>
            <a:endParaRPr lang="en-US" sz="80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8000" dirty="0" smtClean="0"/>
              <a:t>Smoke safety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7800" dirty="0" smtClean="0"/>
              <a:t>Cover nose and mouth with a cloth (preferably damp) to reduce inhalation.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7800" dirty="0" smtClean="0"/>
              <a:t>Stay below smoke layer; smoke rises so cleaner air is lower.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7800" dirty="0" smtClean="0"/>
              <a:t>If trapped, seal gaps around doors with clothing/tape and signal from window</a:t>
            </a:r>
            <a:r>
              <a:rPr lang="en-US" sz="7800" dirty="0" smtClean="0"/>
              <a:t>.</a:t>
            </a:r>
            <a:endParaRPr lang="en-US" sz="78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7800" dirty="0" smtClean="0"/>
              <a:t>Avoid breathing directly from fire area; seek medical help for smoke </a:t>
            </a:r>
            <a:endParaRPr lang="en-US" sz="7800" dirty="0" smtClean="0"/>
          </a:p>
          <a:p>
            <a:pPr lvl="1" fontAlgn="base">
              <a:buNone/>
            </a:pPr>
            <a:r>
              <a:rPr lang="en-US" sz="7800" dirty="0" smtClean="0"/>
              <a:t> </a:t>
            </a:r>
            <a:r>
              <a:rPr lang="en-US" sz="7800" dirty="0" smtClean="0"/>
              <a:t>   inhalation.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46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/>
              <a:t>Evacuation </a:t>
            </a:r>
            <a:r>
              <a:rPr lang="en-US" sz="3500" dirty="0" smtClean="0"/>
              <a:t>procedure &amp; Safety Precautions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463"/>
            <a:ext cx="8229600" cy="5440680"/>
          </a:xfrm>
        </p:spPr>
        <p:txBody>
          <a:bodyPr>
            <a:noAutofit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2000" dirty="0" smtClean="0"/>
              <a:t>Evacuation procedure</a:t>
            </a:r>
          </a:p>
          <a:p>
            <a:pPr lvl="1" fontAlgn="base"/>
            <a:r>
              <a:rPr lang="en-US" sz="1600" dirty="0" smtClean="0"/>
              <a:t>Know and follow primary and secondary exit routes.</a:t>
            </a:r>
          </a:p>
          <a:p>
            <a:pPr lvl="1" fontAlgn="base"/>
            <a:r>
              <a:rPr lang="en-US" sz="1600" dirty="0" smtClean="0"/>
              <a:t>Quickly check room doors for heat with back of hand before opening.</a:t>
            </a:r>
          </a:p>
          <a:p>
            <a:pPr lvl="1" fontAlgn="base"/>
            <a:r>
              <a:rPr lang="en-US" sz="1600" dirty="0" smtClean="0"/>
              <a:t>Assist children, elderly, and disabled; use evacuation chairs if needed.</a:t>
            </a:r>
          </a:p>
          <a:p>
            <a:pPr lvl="1" fontAlgn="base"/>
            <a:r>
              <a:rPr lang="en-US" sz="1600" dirty="0" smtClean="0"/>
              <a:t>Close but do not lock doors; take essential items only if immediately available.</a:t>
            </a:r>
          </a:p>
          <a:p>
            <a:pPr lvl="1" fontAlgn="base"/>
            <a:r>
              <a:rPr lang="en-US" sz="1600" dirty="0" smtClean="0"/>
              <a:t>Head to assembly point; account for all occupants and inform incident commanders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2000" dirty="0" smtClean="0"/>
              <a:t>Emergency </a:t>
            </a:r>
            <a:r>
              <a:rPr lang="en-US" sz="2000" dirty="0" smtClean="0"/>
              <a:t>contacts</a:t>
            </a:r>
          </a:p>
          <a:p>
            <a:pPr lvl="1" fontAlgn="base"/>
            <a:r>
              <a:rPr lang="en-US" sz="1600" dirty="0" smtClean="0"/>
              <a:t>Police (100 dial) or inform local </a:t>
            </a:r>
            <a:r>
              <a:rPr lang="en-US" sz="1600" dirty="0" smtClean="0"/>
              <a:t>PS</a:t>
            </a:r>
          </a:p>
          <a:p>
            <a:pPr lvl="1" fontAlgn="base"/>
            <a:r>
              <a:rPr lang="en-US" sz="1600" dirty="0" smtClean="0"/>
              <a:t>Local fire department (emergency number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 lvl="1" fontAlgn="base"/>
            <a:r>
              <a:rPr lang="en-US" sz="1600" dirty="0" smtClean="0"/>
              <a:t>Local</a:t>
            </a:r>
            <a:r>
              <a:rPr lang="en-US" sz="1600" dirty="0" smtClean="0"/>
              <a:t> </a:t>
            </a:r>
            <a:r>
              <a:rPr lang="en-US" sz="1600" dirty="0" smtClean="0"/>
              <a:t>ambulance</a:t>
            </a:r>
            <a:endParaRPr lang="en-US" sz="16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2000" dirty="0" smtClean="0"/>
              <a:t>Fire </a:t>
            </a:r>
            <a:r>
              <a:rPr lang="en-US" sz="2000" dirty="0" smtClean="0"/>
              <a:t>safety </a:t>
            </a:r>
            <a:r>
              <a:rPr lang="en-US" sz="2000" dirty="0" smtClean="0"/>
              <a:t>precautions</a:t>
            </a:r>
            <a:endParaRPr lang="en-US" sz="2000" dirty="0" smtClean="0"/>
          </a:p>
          <a:p>
            <a:pPr lvl="1" fontAlgn="base">
              <a:buFont typeface="Arial" pitchFamily="34" charset="0"/>
              <a:buChar char="•"/>
            </a:pPr>
            <a:r>
              <a:rPr lang="en-US" sz="1600" dirty="0" smtClean="0"/>
              <a:t>Install and maintain smoke detectors; test monthly and change batteries yearly.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US" sz="1600" dirty="0" smtClean="0"/>
              <a:t>Keep escape routes clear and well-lit; post evacuation maps.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US" sz="1600" dirty="0" smtClean="0"/>
              <a:t>Store flammable materials in approved containers and designated areas.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US" sz="1600" dirty="0" smtClean="0"/>
              <a:t>Maintain electrical systems; avoid overloaded sockets and damaged cords.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US" sz="1600" dirty="0" smtClean="0"/>
              <a:t>Conduct regular fire drills and staff training</a:t>
            </a:r>
            <a:r>
              <a:rPr lang="en-US" sz="1600" dirty="0" smtClean="0"/>
              <a:t>.</a:t>
            </a:r>
          </a:p>
          <a:p>
            <a:pPr fontAlgn="base"/>
            <a:endParaRPr lang="en-US" sz="1700" dirty="0" smtClean="0"/>
          </a:p>
          <a:p>
            <a:pPr fontAlgn="base"/>
            <a:endParaRPr lang="en-US" sz="17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247" y="531223"/>
            <a:ext cx="8081553" cy="12627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3900" dirty="0" smtClean="0"/>
              <a:t/>
            </a:r>
            <a:br>
              <a:rPr lang="en-US" sz="3900" dirty="0" smtClean="0"/>
            </a:b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3900" dirty="0" smtClean="0"/>
              <a:t>Handling flammable </a:t>
            </a:r>
            <a:r>
              <a:rPr lang="en-US" sz="3900" dirty="0" smtClean="0"/>
              <a:t>materials &amp; Fire equipment </a:t>
            </a:r>
            <a:r>
              <a:rPr lang="en-US" sz="3900" dirty="0" smtClean="0"/>
              <a:t>awareness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7" y="1902823"/>
            <a:ext cx="8229600" cy="4389120"/>
          </a:xfrm>
        </p:spPr>
        <p:txBody>
          <a:bodyPr>
            <a:normAutofit fontScale="700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3100" dirty="0" smtClean="0"/>
              <a:t>Handling flammable materials</a:t>
            </a:r>
          </a:p>
          <a:p>
            <a:pPr lvl="1" fontAlgn="base"/>
            <a:r>
              <a:rPr lang="en-US" dirty="0" smtClean="0"/>
              <a:t>Store</a:t>
            </a:r>
            <a:r>
              <a:rPr lang="en-US" dirty="0" smtClean="0"/>
              <a:t> fuels, solvents, and gases in cool, ventilated, labeled, fire-rated cabinets.</a:t>
            </a:r>
          </a:p>
          <a:p>
            <a:pPr lvl="1" fontAlgn="base"/>
            <a:r>
              <a:rPr lang="en-US" dirty="0" smtClean="0"/>
              <a:t>Keep ignition sources (open flames, sparks, hot work) away from storage areas.</a:t>
            </a:r>
          </a:p>
          <a:p>
            <a:pPr lvl="1" fontAlgn="base"/>
            <a:r>
              <a:rPr lang="en-US" dirty="0" smtClean="0"/>
              <a:t>Use bonding/grounding when transferring flammable liquids to prevent static sparks.</a:t>
            </a:r>
          </a:p>
          <a:p>
            <a:pPr lvl="1" fontAlgn="base"/>
            <a:r>
              <a:rPr lang="en-US" dirty="0" smtClean="0"/>
              <a:t>Follow MSDS/SDS instructions for handling, PPE, and disposal.</a:t>
            </a:r>
          </a:p>
          <a:p>
            <a:pPr lvl="1" fontAlgn="base"/>
            <a:r>
              <a:rPr lang="en-US" dirty="0" smtClean="0"/>
              <a:t>Limit quantities on-site to minimum needed and isolate from occupied areas</a:t>
            </a:r>
            <a:r>
              <a:rPr lang="en-US" dirty="0" smtClean="0"/>
              <a:t>.</a:t>
            </a:r>
          </a:p>
          <a:p>
            <a:pPr lvl="1" fontAlgn="base">
              <a:buNone/>
            </a:pPr>
            <a:endParaRPr lang="en-US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3100" dirty="0" smtClean="0"/>
              <a:t>Fire equipment awareness</a:t>
            </a:r>
          </a:p>
          <a:p>
            <a:pPr lvl="1" fontAlgn="base"/>
            <a:r>
              <a:rPr lang="en-US" dirty="0" smtClean="0"/>
              <a:t>Know locations of fire extinguishers, hoses, alarms, exits, and assembly points.</a:t>
            </a:r>
          </a:p>
          <a:p>
            <a:pPr lvl="1" fontAlgn="base"/>
            <a:r>
              <a:rPr lang="en-US" dirty="0" smtClean="0"/>
              <a:t>Learn extinguisher types and use: PASS — Pull, Aim, Squeeze, Sweep.</a:t>
            </a:r>
          </a:p>
          <a:p>
            <a:pPr lvl="1" fontAlgn="base"/>
            <a:r>
              <a:rPr lang="en-US" dirty="0" smtClean="0"/>
              <a:t>Ensure fire doors close properly and are not propped open.</a:t>
            </a:r>
          </a:p>
          <a:p>
            <a:pPr lvl="1" fontAlgn="base"/>
            <a:r>
              <a:rPr lang="en-US" dirty="0" smtClean="0"/>
              <a:t>Keep fire blankets, breathing apparatus, and first-aid kits accessible where required.</a:t>
            </a:r>
          </a:p>
          <a:p>
            <a:pPr lvl="1" fontAlgn="base"/>
            <a:r>
              <a:rPr lang="en-US" dirty="0" smtClean="0"/>
              <a:t>Report faulty equipment immediately and log maintenance checks.</a:t>
            </a:r>
          </a:p>
          <a:p>
            <a:pPr fontAlgn="base"/>
            <a:endParaRPr lang="en-US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/>
              <a:t>Fire safety </a:t>
            </a:r>
            <a:r>
              <a:rPr lang="en-US" sz="4800" dirty="0" smtClean="0"/>
              <a:t>Do’s &amp; Don’ts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Fire safety Do’s </a:t>
            </a:r>
          </a:p>
          <a:p>
            <a:pPr lvl="1" fontAlgn="base"/>
            <a:r>
              <a:rPr lang="en-US" dirty="0" smtClean="0"/>
              <a:t>Do evacuate promptly when alarm sounds.</a:t>
            </a:r>
          </a:p>
          <a:p>
            <a:pPr lvl="1" fontAlgn="base"/>
            <a:r>
              <a:rPr lang="en-US" dirty="0" smtClean="0"/>
              <a:t>Do call emergency services early.</a:t>
            </a:r>
          </a:p>
          <a:p>
            <a:pPr lvl="1" fontAlgn="base"/>
            <a:r>
              <a:rPr lang="en-US" dirty="0" smtClean="0"/>
              <a:t>Do assist vulnerable people and follow evacuation leader instructions.</a:t>
            </a:r>
          </a:p>
          <a:p>
            <a:pPr lvl="1" fontAlgn="base"/>
            <a:r>
              <a:rPr lang="en-US" dirty="0" smtClean="0"/>
              <a:t>Do use appropriate extinguisher for small fires only if trained and safe.</a:t>
            </a:r>
          </a:p>
          <a:p>
            <a:pPr lvl="1" fontAlgn="base"/>
            <a:r>
              <a:rPr lang="en-US" dirty="0" smtClean="0"/>
              <a:t>Do keep exits and fire equipment unobstructed.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Fire safety Don’ts </a:t>
            </a:r>
          </a:p>
          <a:p>
            <a:pPr lvl="1" fontAlgn="base"/>
            <a:r>
              <a:rPr lang="en-US" dirty="0" smtClean="0"/>
              <a:t>Don’t hide or return for belongings.</a:t>
            </a:r>
          </a:p>
          <a:p>
            <a:pPr lvl="1" fontAlgn="base"/>
            <a:r>
              <a:rPr lang="en-US" dirty="0" smtClean="0"/>
              <a:t>Don’t use elevators during evacuation.</a:t>
            </a:r>
          </a:p>
          <a:p>
            <a:pPr lvl="1" fontAlgn="base"/>
            <a:r>
              <a:rPr lang="en-US" dirty="0" smtClean="0"/>
              <a:t>Don’t fight large or rapidly spreading fires alone.</a:t>
            </a:r>
          </a:p>
          <a:p>
            <a:pPr lvl="1" fontAlgn="base"/>
            <a:r>
              <a:rPr lang="en-US" dirty="0" smtClean="0"/>
              <a:t>Don’t open hot doors without checking for heat.</a:t>
            </a:r>
          </a:p>
          <a:p>
            <a:pPr lvl="1" fontAlgn="base"/>
            <a:r>
              <a:rPr lang="en-US" dirty="0" smtClean="0"/>
              <a:t>Don’t store flammables near heat sources or exits.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29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Cyclone - Safety Precautions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3629"/>
            <a:ext cx="8229600" cy="5013960"/>
          </a:xfrm>
        </p:spPr>
        <p:txBody>
          <a:bodyPr>
            <a:noAutofit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Monitor weather alerts and warnings; follow official evacuation orders immediately.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Secure loose outdoor items (furniture, signage, debris) to prevent flying hazards.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Close and lock windows and doors; board up windows or use storm shutters if available.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Move vehicles to higher ground and away from trees, power lines, and low-lying areas.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Fill fuel tanks and charge phones, power banks, and essential devices.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Store at least 3 days of water and nonperishable food per person; include </a:t>
            </a:r>
            <a:r>
              <a:rPr lang="en-US" sz="1600" dirty="0" smtClean="0"/>
              <a:t>medicines.</a:t>
            </a:r>
            <a:endParaRPr lang="en-US" sz="1600" dirty="0" smtClean="0"/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Prepare an emergency kit with flashlight, batteries, radio, first-aid kit, cash, important documents in waterproof bag.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Identify nearest safe room or strongest interior room (no windows) on lowest level for shelter.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Keep evacuation routes and assembly points known to all family/household members.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Stay</a:t>
            </a:r>
            <a:r>
              <a:rPr lang="en-US" sz="1600" dirty="0" smtClean="0"/>
              <a:t> indoors during the cyclone; avoid windows and sit in the designated safe room.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If flooding begins, move to higher floors but avoid attics without escape routes; go to roof only as last resort and signal for help.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Report hazards (downed lines, gas smell, major damage) to emergency services and utility companies.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1600" dirty="0" smtClean="0"/>
              <a:t>Check on neighbors, especially elderly, disabled, or those with young children; offer assistance where safe.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25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Do’s &amp; Don’ts during Cyclone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8833"/>
            <a:ext cx="8229600" cy="5042263"/>
          </a:xfrm>
        </p:spPr>
        <p:txBody>
          <a:bodyPr>
            <a:normAutofit fontScale="85000" lnSpcReduction="1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Do’s</a:t>
            </a:r>
          </a:p>
          <a:p>
            <a:pPr lvl="1" fontAlgn="base"/>
            <a:r>
              <a:rPr lang="en-US" dirty="0" smtClean="0"/>
              <a:t>Do follow official evacuation and safety instructions without delay.</a:t>
            </a:r>
          </a:p>
          <a:p>
            <a:pPr lvl="1" fontAlgn="base"/>
            <a:r>
              <a:rPr lang="en-US" dirty="0" smtClean="0"/>
              <a:t>Do secure property and move to the safest interior location.</a:t>
            </a:r>
          </a:p>
          <a:p>
            <a:pPr lvl="1" fontAlgn="base"/>
            <a:r>
              <a:rPr lang="en-US" dirty="0" smtClean="0"/>
              <a:t>Do keep emergency contacts and documents accessible and waterproofed.</a:t>
            </a:r>
          </a:p>
          <a:p>
            <a:pPr lvl="1" fontAlgn="base"/>
            <a:r>
              <a:rPr lang="en-US" dirty="0" smtClean="0"/>
              <a:t>Do keep radios/phones charged and conserve battery power.</a:t>
            </a:r>
          </a:p>
          <a:p>
            <a:pPr lvl="1" fontAlgn="base"/>
            <a:r>
              <a:rPr lang="en-US" dirty="0" smtClean="0"/>
              <a:t>Do assist vulnerable neighbors and coordinate with community response.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Don’ts</a:t>
            </a:r>
          </a:p>
          <a:p>
            <a:pPr lvl="1" fontAlgn="base"/>
            <a:r>
              <a:rPr lang="en-US" dirty="0" smtClean="0"/>
              <a:t>Don’t wait until the last minute to evacuate if ordered.</a:t>
            </a:r>
          </a:p>
          <a:p>
            <a:pPr lvl="1" fontAlgn="base"/>
            <a:r>
              <a:rPr lang="en-US" dirty="0" smtClean="0"/>
              <a:t>Don’t go outside during high winds or while debris is flying.</a:t>
            </a:r>
          </a:p>
          <a:p>
            <a:pPr lvl="1" fontAlgn="base"/>
            <a:r>
              <a:rPr lang="en-US" dirty="0" smtClean="0"/>
              <a:t>Don’t drive through flooded or debris-blocked roads.</a:t>
            </a:r>
          </a:p>
          <a:p>
            <a:pPr lvl="1" fontAlgn="base"/>
            <a:r>
              <a:rPr lang="en-US" dirty="0" smtClean="0"/>
              <a:t>Don’t use candles or open flames indoors if gas leaks are possible.</a:t>
            </a:r>
          </a:p>
          <a:p>
            <a:pPr lvl="1" fontAlgn="base"/>
            <a:r>
              <a:rPr lang="en-US" dirty="0" smtClean="0"/>
              <a:t>Don’t touch downed power lines or enter flooded electrical areas.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Human-Made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Terrorism</a:t>
            </a:r>
            <a:endParaRPr sz="2800"/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Riots</a:t>
            </a:r>
            <a:endParaRPr sz="2800"/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War</a:t>
            </a:r>
            <a:endParaRPr sz="2800"/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Cyber </a:t>
            </a:r>
            <a:r>
              <a:rPr sz="2800"/>
              <a:t>attacks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sz="2800" smtClean="0"/>
              <a:t>Environmental pollution</a:t>
            </a:r>
            <a:endParaRPr lang="en-US" sz="2800" dirty="0" smtClean="0"/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Industrial accidents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Chemical </a:t>
            </a:r>
            <a:r>
              <a:rPr lang="en-US" sz="2800" dirty="0" smtClean="0"/>
              <a:t>leakage</a:t>
            </a:r>
          </a:p>
          <a:p>
            <a:pPr>
              <a:buFont typeface="Wingdings" pitchFamily="2" charset="2"/>
              <a:buChar char="v"/>
              <a:defRPr sz="2000"/>
            </a:pPr>
            <a:r>
              <a:rPr lang="en-US" sz="2800" dirty="0" smtClean="0"/>
              <a:t>Nuclear hazards</a:t>
            </a:r>
            <a:endParaRPr lang="en-US" sz="28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155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DISASTER EMERGENCY KIT READY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4926"/>
            <a:ext cx="8229600" cy="4389120"/>
          </a:xfrm>
        </p:spPr>
        <p:txBody>
          <a:bodyPr>
            <a:normAutofit fontScale="475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Battery-operated torch with extra batteries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Battery-operated radio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First aid kit and manual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Emergency food (dry items) and water (packed and sealed)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Candles and matches in a waterproof container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Knife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Chlorine tablets or powdered water purifiers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Can opener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Essential medicines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Cash and credit cards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Thick ropes and cords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4400" dirty="0" smtClean="0"/>
              <a:t>Sturdy shoes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/>
            <a:r>
              <a:rPr lang="en-US" sz="3500" b="1" dirty="0" smtClean="0"/>
              <a:t>Disaster </a:t>
            </a:r>
            <a:r>
              <a:rPr lang="en-US" sz="3500" b="1" dirty="0" smtClean="0"/>
              <a:t>Preparedness </a:t>
            </a:r>
            <a:r>
              <a:rPr lang="en-US" sz="3500" b="1" dirty="0" smtClean="0"/>
              <a:t>and </a:t>
            </a:r>
            <a:r>
              <a:rPr lang="en-US" sz="3500" b="1" dirty="0" smtClean="0"/>
              <a:t>Community Participation</a:t>
            </a:r>
            <a:endParaRPr lang="en-US" sz="35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35480"/>
            <a:ext cx="8425543" cy="4804954"/>
          </a:xfrm>
        </p:spPr>
        <p:txBody>
          <a:bodyPr>
            <a:normAutofit fontScale="475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Risk</a:t>
            </a:r>
            <a:r>
              <a:rPr lang="en-US" sz="2900" dirty="0" smtClean="0"/>
              <a:t> </a:t>
            </a:r>
            <a:r>
              <a:rPr lang="en-US" sz="2900" dirty="0" smtClean="0"/>
              <a:t>awareness</a:t>
            </a:r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M</a:t>
            </a:r>
            <a:r>
              <a:rPr lang="en-US" sz="2500" dirty="0" smtClean="0"/>
              <a:t>ap</a:t>
            </a:r>
            <a:r>
              <a:rPr lang="en-US" sz="2500" dirty="0" smtClean="0"/>
              <a:t> local hazards, vulnerable groups, critical buildings, and evacuation routes.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Community plan: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D</a:t>
            </a:r>
            <a:r>
              <a:rPr lang="en-US" sz="2500" dirty="0" smtClean="0"/>
              <a:t>evelop</a:t>
            </a:r>
            <a:r>
              <a:rPr lang="en-US" sz="2500" dirty="0" smtClean="0"/>
              <a:t> a clear, simple emergency plan with roles, meeting points, and communication methods.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Local leadership: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A</a:t>
            </a:r>
            <a:r>
              <a:rPr lang="en-US" sz="2500" dirty="0" smtClean="0"/>
              <a:t>ppoint</a:t>
            </a:r>
            <a:r>
              <a:rPr lang="en-US" sz="2500" dirty="0" smtClean="0"/>
              <a:t> and train ward/block/neighborhood coordinators and backup leaders.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Public education: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R</a:t>
            </a:r>
            <a:r>
              <a:rPr lang="en-US" sz="2500" dirty="0" smtClean="0"/>
              <a:t>un</a:t>
            </a:r>
            <a:r>
              <a:rPr lang="en-US" sz="2500" dirty="0" smtClean="0"/>
              <a:t> regular awareness campaigns, workshops, and school programs on risks and safety actions.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Drills and exercises: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C</a:t>
            </a:r>
            <a:r>
              <a:rPr lang="en-US" sz="2500" dirty="0" smtClean="0"/>
              <a:t>onduct</a:t>
            </a:r>
            <a:r>
              <a:rPr lang="en-US" sz="2500" dirty="0" smtClean="0"/>
              <a:t> frequent community drills (evacuation, sheltering, first aid) and review lessons learned.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Volunteer teams: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Form</a:t>
            </a:r>
            <a:r>
              <a:rPr lang="en-US" sz="2500" dirty="0" smtClean="0"/>
              <a:t> and train local response teams for first aid, light search &amp; rescue, rapid assessment, and logistics.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Resource inventory: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M</a:t>
            </a:r>
            <a:r>
              <a:rPr lang="en-US" sz="2500" dirty="0" smtClean="0"/>
              <a:t>aintain</a:t>
            </a:r>
            <a:r>
              <a:rPr lang="en-US" sz="2500" dirty="0" smtClean="0"/>
              <a:t> a community register of skills, equipment, vehicles, tools, and available shelters.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Emergency kits: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P</a:t>
            </a:r>
            <a:r>
              <a:rPr lang="en-US" sz="2500" dirty="0" smtClean="0"/>
              <a:t>romote</a:t>
            </a:r>
            <a:r>
              <a:rPr lang="en-US" sz="2500" dirty="0" smtClean="0"/>
              <a:t> household kits and provide templates/checklists for families and vulnerable households.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Communication networks: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E</a:t>
            </a:r>
            <a:r>
              <a:rPr lang="en-US" sz="2500" dirty="0" smtClean="0"/>
              <a:t>stablish</a:t>
            </a:r>
            <a:r>
              <a:rPr lang="en-US" sz="2500" dirty="0" smtClean="0"/>
              <a:t> redundant channels (phone trees, SMS lists, radio, social media, community notice boards).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Stockpiling</a:t>
            </a:r>
            <a:r>
              <a:rPr lang="en-US" sz="2900" dirty="0" smtClean="0"/>
              <a:t> &amp; supply chains: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P</a:t>
            </a:r>
            <a:r>
              <a:rPr lang="en-US" sz="2500" dirty="0" smtClean="0"/>
              <a:t>re-position</a:t>
            </a:r>
            <a:r>
              <a:rPr lang="en-US" sz="2500" dirty="0" smtClean="0"/>
              <a:t> essentials (water, blankets, food, medicines) and plan distribution priorities.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Coordination with authorities: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E</a:t>
            </a:r>
            <a:r>
              <a:rPr lang="en-US" sz="2500" dirty="0" smtClean="0"/>
              <a:t>stablish</a:t>
            </a:r>
            <a:r>
              <a:rPr lang="en-US" sz="2500" dirty="0" smtClean="0"/>
              <a:t> liaison with police, fire, health, municipal services, and NGOs for support and referrals.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sz="2900" dirty="0" smtClean="0"/>
              <a:t>Financial readiness: </a:t>
            </a:r>
            <a:endParaRPr lang="en-US" sz="2900" dirty="0" smtClean="0"/>
          </a:p>
          <a:p>
            <a:pPr lvl="1" fontAlgn="base">
              <a:buFont typeface="Wingdings" pitchFamily="2" charset="2"/>
              <a:buChar char="v"/>
            </a:pPr>
            <a:r>
              <a:rPr lang="en-US" sz="2500" dirty="0" smtClean="0"/>
              <a:t>S</a:t>
            </a:r>
            <a:r>
              <a:rPr lang="en-US" sz="2500" dirty="0" smtClean="0"/>
              <a:t>et</a:t>
            </a:r>
            <a:r>
              <a:rPr lang="en-US" sz="2500" dirty="0" smtClean="0"/>
              <a:t> up community emergency funds, micro-insurance options, or cash-transfer plans for rapid relief.</a:t>
            </a:r>
          </a:p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03"/>
            <a:ext cx="8229600" cy="1334588"/>
          </a:xfrm>
        </p:spPr>
        <p:txBody>
          <a:bodyPr>
            <a:normAutofit fontScale="90000"/>
          </a:bodyPr>
          <a:lstStyle/>
          <a:p>
            <a:pPr algn="ctr"/>
            <a:r>
              <a:rPr/>
              <a:t>Emergency </a:t>
            </a:r>
            <a:r>
              <a:rPr smtClean="0"/>
              <a:t>Response</a:t>
            </a:r>
            <a:r>
              <a:rPr lang="en-US" dirty="0" smtClean="0"/>
              <a:t> &amp; Recovery and </a:t>
            </a:r>
            <a:r>
              <a:rPr lang="en-US" sz="4400" dirty="0" smtClean="0"/>
              <a:t>Rehabilitation</a:t>
            </a:r>
            <a:endParaRPr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4560"/>
            <a:ext cx="8229600" cy="4389120"/>
          </a:xfrm>
        </p:spPr>
        <p:txBody>
          <a:bodyPr/>
          <a:lstStyle/>
          <a:p>
            <a:pPr>
              <a:buFont typeface="Wingdings" pitchFamily="2" charset="2"/>
              <a:buChar char="v"/>
              <a:defRPr sz="2000"/>
            </a:pPr>
            <a:r>
              <a:rPr lang="en-US" dirty="0" smtClean="0"/>
              <a:t>Emergency Response </a:t>
            </a:r>
            <a:endParaRPr lang="en-US" dirty="0" smtClean="0"/>
          </a:p>
          <a:p>
            <a:pPr lvl="1">
              <a:defRPr sz="2000"/>
            </a:pPr>
            <a:r>
              <a:rPr smtClean="0"/>
              <a:t>Search </a:t>
            </a:r>
            <a:r>
              <a:t>and rescue</a:t>
            </a:r>
          </a:p>
          <a:p>
            <a:pPr lvl="1">
              <a:defRPr sz="2000"/>
            </a:pPr>
            <a:r>
              <a:rPr smtClean="0"/>
              <a:t>Medical </a:t>
            </a:r>
            <a:r>
              <a:t>aid</a:t>
            </a:r>
          </a:p>
          <a:p>
            <a:pPr lvl="1">
              <a:defRPr sz="2000"/>
            </a:pPr>
            <a:r>
              <a:rPr smtClean="0"/>
              <a:t>Relief </a:t>
            </a:r>
            <a:r>
              <a:t>distribution</a:t>
            </a:r>
          </a:p>
          <a:p>
            <a:pPr lvl="1">
              <a:defRPr sz="2000"/>
            </a:pPr>
            <a:r>
              <a:rPr smtClean="0"/>
              <a:t>Communication support</a:t>
            </a:r>
            <a:endParaRPr lang="en-US" dirty="0" smtClean="0"/>
          </a:p>
          <a:p>
            <a:pPr lvl="1">
              <a:buNone/>
              <a:defRPr sz="2000"/>
            </a:pPr>
            <a:endParaRPr lang="en-US" dirty="0" smtClean="0"/>
          </a:p>
          <a:p>
            <a:pPr>
              <a:buFont typeface="Wingdings" pitchFamily="2" charset="2"/>
              <a:buChar char="v"/>
              <a:defRPr sz="2000"/>
            </a:pPr>
            <a:r>
              <a:rPr lang="en-US" dirty="0" smtClean="0"/>
              <a:t>Recovery and Rehabilitation</a:t>
            </a:r>
          </a:p>
          <a:p>
            <a:pPr lvl="1">
              <a:defRPr sz="2000"/>
            </a:pPr>
            <a:r>
              <a:rPr lang="en-US" dirty="0" smtClean="0"/>
              <a:t>Reconstruction of infrastructure</a:t>
            </a:r>
          </a:p>
          <a:p>
            <a:pPr lvl="1">
              <a:defRPr sz="2000"/>
            </a:pPr>
            <a:r>
              <a:rPr lang="en-US" dirty="0" smtClean="0"/>
              <a:t>Financial </a:t>
            </a:r>
            <a:r>
              <a:rPr lang="en-US" dirty="0" smtClean="0"/>
              <a:t>assistance</a:t>
            </a:r>
          </a:p>
          <a:p>
            <a:pPr lvl="1">
              <a:defRPr sz="2000"/>
            </a:pPr>
            <a:r>
              <a:rPr lang="en-US" dirty="0" smtClean="0"/>
              <a:t>Counseling </a:t>
            </a:r>
            <a:r>
              <a:rPr lang="en-US" dirty="0" smtClean="0"/>
              <a:t>support</a:t>
            </a:r>
          </a:p>
          <a:p>
            <a:pPr lvl="1">
              <a:defRPr sz="2000"/>
            </a:pPr>
            <a:r>
              <a:rPr lang="en-US" dirty="0" smtClean="0"/>
              <a:t>Livelihood </a:t>
            </a:r>
            <a:r>
              <a:rPr lang="en-US" dirty="0" smtClean="0"/>
              <a:t>restoration</a:t>
            </a:r>
          </a:p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7646"/>
            <a:ext cx="8229600" cy="619179"/>
          </a:xfrm>
        </p:spPr>
        <p:txBody>
          <a:bodyPr>
            <a:normAutofit fontScale="90000"/>
          </a:bodyPr>
          <a:lstStyle/>
          <a:p>
            <a:pPr algn="ctr"/>
            <a:r>
              <a:rPr sz="4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6582"/>
            <a:ext cx="8229600" cy="5050971"/>
          </a:xfrm>
        </p:spPr>
        <p:txBody>
          <a:bodyPr>
            <a:normAutofit fontScale="85000" lnSpcReduction="20000"/>
          </a:bodyPr>
          <a:lstStyle/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Saves lives and reduces injuries.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Limits damage to property and infrastructure.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Speeds up restoration of essential services (water, power, health).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Enables faster, more organized delivery of aid and relief.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Reduces long-term economic losses and recovery costs.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Strengthens community resilience and preparedness for future events.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Requires coordinated roles: police, fire, medical, NGOs, and citizens.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Depends on early warning systems, clear communication, and regular drills.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Relies on prevention and mitigation (safe buildings, land use, infrastructure).</a:t>
            </a:r>
          </a:p>
          <a:p>
            <a:pPr fontAlgn="base">
              <a:buFont typeface="Wingdings" pitchFamily="2" charset="2"/>
              <a:buChar char="v"/>
            </a:pPr>
            <a:r>
              <a:rPr lang="en-US" dirty="0" smtClean="0"/>
              <a:t>Benefits from investing in training, equipment, and contingency planning.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hank you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892" y="931816"/>
            <a:ext cx="7898674" cy="5155475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231</TotalTime>
  <Words>183</Words>
  <Application>Microsoft Macintosh PowerPoint</Application>
  <PresentationFormat>On-screen Show (4:3)</PresentationFormat>
  <Paragraphs>249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Disaster Management &amp;  Emergency response</vt:lpstr>
      <vt:lpstr>Contents</vt:lpstr>
      <vt:lpstr>Types of Disasters</vt:lpstr>
      <vt:lpstr>Causes of Disasters</vt:lpstr>
      <vt:lpstr>Effects of Disasters</vt:lpstr>
      <vt:lpstr>Earthquake</vt:lpstr>
      <vt:lpstr>Do’s &amp; Don’ts during Earthquake           </vt:lpstr>
      <vt:lpstr>What To Do in Case of Fire</vt:lpstr>
      <vt:lpstr>Evacuation procedure &amp; Safety Precautions</vt:lpstr>
      <vt:lpstr>          Handling flammable materials &amp; Fire equipment awareness</vt:lpstr>
      <vt:lpstr>Fire safety Do’s &amp; Don’ts </vt:lpstr>
      <vt:lpstr>Cyclone - Safety Precautions </vt:lpstr>
      <vt:lpstr>Do’s &amp; Don’ts during Cyclone</vt:lpstr>
      <vt:lpstr>Human-Made Disasters</vt:lpstr>
      <vt:lpstr>DISASTER EMERGENCY KIT READY</vt:lpstr>
      <vt:lpstr>Disaster Preparedness and Community Participation</vt:lpstr>
      <vt:lpstr>Emergency Response &amp; Recovery and Rehabilitation</vt:lpstr>
      <vt:lpstr>Conclusion</vt:lpstr>
      <vt:lpstr>Slide 19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USER</cp:lastModifiedBy>
  <cp:revision>27</cp:revision>
  <dcterms:created xsi:type="dcterms:W3CDTF">2013-01-27T09:14:16Z</dcterms:created>
  <dcterms:modified xsi:type="dcterms:W3CDTF">2026-05-23T10:21:12Z</dcterms:modified>
  <cp:category/>
</cp:coreProperties>
</file>