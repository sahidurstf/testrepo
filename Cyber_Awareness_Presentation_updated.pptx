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6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2804160"/>
            <a:ext cx="7851648" cy="2198914"/>
          </a:xfrm>
        </p:spPr>
        <p:txBody>
          <a:bodyPr/>
          <a:lstStyle/>
          <a:p>
            <a:pPr algn="ctr"/>
            <a:r>
              <a:rPr/>
              <a:t>Cyber </a:t>
            </a:r>
            <a:r>
              <a:rPr smtClean="0"/>
              <a:t>Awarenes</a:t>
            </a:r>
            <a:r>
              <a:rPr lang="en-US" dirty="0" smtClean="0"/>
              <a:t> &amp; </a:t>
            </a:r>
            <a:br>
              <a:rPr lang="en-US" dirty="0" smtClean="0"/>
            </a:br>
            <a:r>
              <a:rPr lang="en-US" dirty="0" smtClean="0"/>
              <a:t>Social Media Sensitivity</a:t>
            </a:r>
            <a:endParaRPr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918856" y="5434149"/>
            <a:ext cx="5078839" cy="951578"/>
          </a:xfrm>
        </p:spPr>
        <p:txBody>
          <a:bodyPr/>
          <a:lstStyle/>
          <a:p>
            <a:r>
              <a:rPr lang="en-US" dirty="0" smtClean="0"/>
              <a:t>Prepared by STF, Kolkata Police</a:t>
            </a:r>
            <a:endParaRPr lang="en-US" dirty="0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102" y="824600"/>
            <a:ext cx="3274423" cy="2345319"/>
          </a:xfrm>
          <a:prstGeom prst="rect">
            <a:avLst/>
          </a:prstGeom>
        </p:spPr>
      </p:pic>
      <p:pic>
        <p:nvPicPr>
          <p:cNvPr id="6" name="Picture 5" descr="cyber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86" y="824599"/>
            <a:ext cx="3322366" cy="23453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1" y="435429"/>
            <a:ext cx="8229600" cy="1143000"/>
          </a:xfrm>
        </p:spPr>
        <p:txBody>
          <a:bodyPr/>
          <a:lstStyle/>
          <a:p>
            <a:pPr algn="ctr"/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6549"/>
            <a:ext cx="8229600" cy="438912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v"/>
              <a:defRPr sz="1800"/>
            </a:pPr>
            <a:r>
              <a:rPr sz="3600"/>
              <a:t>Introduction &amp; Objectives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3600"/>
              <a:t>Major Types of Cyber Frauds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3600"/>
              <a:t>Social Media Cyber Crimes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3600"/>
              <a:t>Financial &amp; Banking Frauds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3600"/>
              <a:t>Device &amp; Malware Threats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3600"/>
              <a:t>Cyber Safety Tips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3600"/>
              <a:t>How to Report Cyber </a:t>
            </a:r>
            <a:r>
              <a:rPr sz="3600" smtClean="0"/>
              <a:t>Crime</a:t>
            </a:r>
            <a:endParaRPr lang="en-US" sz="3600" dirty="0" smtClean="0"/>
          </a:p>
          <a:p>
            <a:pPr>
              <a:buFont typeface="Wingdings" pitchFamily="2" charset="2"/>
              <a:buChar char="v"/>
              <a:defRPr sz="1800"/>
            </a:pPr>
            <a:r>
              <a:rPr lang="en-US" sz="3600" dirty="0" smtClean="0"/>
              <a:t>Social Media Sensitivity</a:t>
            </a:r>
            <a:endParaRPr sz="3600"/>
          </a:p>
          <a:p>
            <a:pPr>
              <a:buFont typeface="Wingdings" pitchFamily="2" charset="2"/>
              <a:buChar char="v"/>
              <a:defRPr sz="1800"/>
            </a:pPr>
            <a:r>
              <a:rPr sz="3600"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680"/>
            <a:ext cx="8229600" cy="1143000"/>
          </a:xfrm>
        </p:spPr>
        <p:txBody>
          <a:bodyPr/>
          <a:lstStyle/>
          <a:p>
            <a:pPr algn="ctr"/>
            <a:r>
              <a:t>Objectives of Cyber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  <a:defRPr sz="1800"/>
            </a:pPr>
            <a:r>
              <a:rPr sz="2200"/>
              <a:t>Create awareness regarding common cyber threats and online frauds.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2200"/>
              <a:t>Educate users about fraud techniques used by cyber criminals.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lang="en-US" sz="2200" dirty="0" smtClean="0"/>
              <a:t>Prevent </a:t>
            </a:r>
            <a:r>
              <a:rPr lang="en-US" sz="2200" dirty="0" smtClean="0"/>
              <a:t>financial frauds and identity theft</a:t>
            </a:r>
            <a:r>
              <a:rPr lang="en-US" sz="2200" dirty="0" smtClean="0"/>
              <a:t>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lang="en-US" sz="2200" dirty="0" smtClean="0"/>
              <a:t>To reduce </a:t>
            </a:r>
            <a:r>
              <a:rPr lang="en-US" sz="2200" dirty="0" smtClean="0"/>
              <a:t>risks of hacking, malware, and data </a:t>
            </a:r>
            <a:r>
              <a:rPr lang="en-US" sz="2200" dirty="0" smtClean="0"/>
              <a:t>breaches.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lang="en-US" sz="2200" dirty="0" smtClean="0"/>
              <a:t>To safeguard children, women, and senior citizens from online </a:t>
            </a:r>
            <a:r>
              <a:rPr lang="en-US" sz="2200" dirty="0" smtClean="0"/>
              <a:t>exploitation.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lang="en-US" sz="2200" dirty="0" smtClean="0"/>
              <a:t>To encourage safe use of social media platforms.</a:t>
            </a:r>
            <a:endParaRPr lang="en-US" sz="2200" dirty="0" smtClean="0"/>
          </a:p>
          <a:p>
            <a:pPr>
              <a:buFont typeface="Wingdings" pitchFamily="2" charset="2"/>
              <a:buChar char="v"/>
              <a:defRPr sz="1800"/>
            </a:pPr>
            <a:r>
              <a:rPr lang="en-US" sz="2200" dirty="0" smtClean="0"/>
              <a:t>To create awareness about cyber crimes and online threats. To educate </a:t>
            </a:r>
            <a:r>
              <a:rPr lang="en-US" sz="2200" dirty="0" smtClean="0"/>
              <a:t>people.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lang="en-US" sz="2200" dirty="0" smtClean="0"/>
              <a:t>Provide preventive safety measures and cyber hygiene practices.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lang="en-US" sz="2200" dirty="0" smtClean="0"/>
              <a:t>Encourage safe digital behavior and reporting of cybercrime.</a:t>
            </a:r>
          </a:p>
          <a:p>
            <a:pPr>
              <a:defRPr sz="1800"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algn="ctr"/>
            <a:r>
              <a:t>CVV/OTP Sharing Fraud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4033" y="1447800"/>
            <a:ext cx="6945086" cy="1748246"/>
          </a:xfrm>
        </p:spPr>
        <p:txBody>
          <a:bodyPr/>
          <a:lstStyle/>
          <a:p>
            <a:pPr>
              <a:buFont typeface="Wingdings" pitchFamily="2" charset="2"/>
              <a:buChar char="v"/>
              <a:defRPr sz="1800"/>
            </a:pPr>
            <a:r>
              <a:t>Fraudsters impersonate bank/RBI officials.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t>Victims are asked to share card number, CVV and OTP.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t>Money is immediately transferred from victim accounts.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t>Example: Fake KYC update call.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t>Tip: Never share OTP, CVV or PIN with anyone.</a:t>
            </a:r>
          </a:p>
        </p:txBody>
      </p:sp>
      <p:pic>
        <p:nvPicPr>
          <p:cNvPr id="4" name="Picture 3" descr="cv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81" y="3309257"/>
            <a:ext cx="7763979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5429"/>
            <a:ext cx="8229600" cy="1143000"/>
          </a:xfrm>
        </p:spPr>
        <p:txBody>
          <a:bodyPr/>
          <a:lstStyle/>
          <a:p>
            <a:pPr algn="ctr"/>
            <a:r>
              <a:t>UPI &amp; QR Code Fraud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606" y="1578429"/>
            <a:ext cx="6736080" cy="1957251"/>
          </a:xfrm>
        </p:spPr>
        <p:txBody>
          <a:bodyPr/>
          <a:lstStyle/>
          <a:p>
            <a:pPr>
              <a:defRPr sz="1800"/>
            </a:pPr>
            <a:r>
              <a:rPr smtClean="0"/>
              <a:t>Fraudsters send fake payment request links or QR codes.</a:t>
            </a:r>
          </a:p>
          <a:p>
            <a:pPr>
              <a:defRPr sz="1800"/>
            </a:pPr>
            <a:r>
              <a:rPr smtClean="0"/>
              <a:t>Victims </a:t>
            </a:r>
            <a:r>
              <a:t>think they are receiving money but actually pay money.</a:t>
            </a:r>
          </a:p>
          <a:p>
            <a:pPr>
              <a:defRPr sz="1800"/>
            </a:pPr>
            <a:r>
              <a:t>Common in Google Pay, PhonePe and Paytm scams.</a:t>
            </a:r>
          </a:p>
          <a:p>
            <a:pPr>
              <a:defRPr sz="1800"/>
            </a:pPr>
            <a:r>
              <a:t>Example: Fake cashback or refund offers.</a:t>
            </a:r>
          </a:p>
          <a:p>
            <a:pPr>
              <a:defRPr sz="1800"/>
            </a:pPr>
            <a:r>
              <a:t>Tip: UPI PIN is needed only to send money, not receive it.</a:t>
            </a:r>
          </a:p>
        </p:txBody>
      </p:sp>
      <p:pic>
        <p:nvPicPr>
          <p:cNvPr id="4" name="Picture 3" descr="u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94" y="3535679"/>
            <a:ext cx="7964012" cy="31699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3509"/>
            <a:ext cx="8229600" cy="1143000"/>
          </a:xfrm>
        </p:spPr>
        <p:txBody>
          <a:bodyPr/>
          <a:lstStyle/>
          <a:p>
            <a:pPr algn="ctr"/>
            <a:r>
              <a:t>OLX / E-Commerce Fraud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6509"/>
            <a:ext cx="8229600" cy="1800497"/>
          </a:xfrm>
        </p:spPr>
        <p:txBody>
          <a:bodyPr/>
          <a:lstStyle/>
          <a:p>
            <a:pPr>
              <a:defRPr sz="1800"/>
            </a:pPr>
            <a:r>
              <a:t>Fake advertisements are posted at attractive prices.</a:t>
            </a:r>
          </a:p>
          <a:p>
            <a:pPr>
              <a:defRPr sz="1800"/>
            </a:pPr>
            <a:r>
              <a:t>Victims pay advance charges for delivery or registration.</a:t>
            </a:r>
          </a:p>
          <a:p>
            <a:pPr>
              <a:defRPr sz="1800"/>
            </a:pPr>
            <a:r>
              <a:t>Fraudsters disappear after payment.</a:t>
            </a:r>
          </a:p>
          <a:p>
            <a:pPr>
              <a:defRPr sz="1800"/>
            </a:pPr>
            <a:r>
              <a:t>Example: Fake army officer selling products.</a:t>
            </a:r>
          </a:p>
          <a:p>
            <a:pPr>
              <a:defRPr sz="1800"/>
            </a:pPr>
            <a:r>
              <a:t>Tip: Never pay advance without verifying seller and product.</a:t>
            </a:r>
          </a:p>
        </p:txBody>
      </p:sp>
      <p:pic>
        <p:nvPicPr>
          <p:cNvPr id="4" name="Picture 3" descr="OL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57" y="3257005"/>
            <a:ext cx="8253152" cy="34660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1257"/>
            <a:ext cx="8229600" cy="1143000"/>
          </a:xfrm>
        </p:spPr>
        <p:txBody>
          <a:bodyPr/>
          <a:lstStyle/>
          <a:p>
            <a:pPr algn="ctr"/>
            <a:r>
              <a:t>Screen Sharing App Fraud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4257"/>
            <a:ext cx="8229600" cy="1434737"/>
          </a:xfrm>
        </p:spPr>
        <p:txBody>
          <a:bodyPr/>
          <a:lstStyle/>
          <a:p>
            <a:pPr>
              <a:defRPr sz="1800"/>
            </a:pPr>
            <a:r>
              <a:t>Victims are asked to install AnyDesk, TeamViewer etc.</a:t>
            </a:r>
          </a:p>
          <a:p>
            <a:pPr>
              <a:defRPr sz="1800"/>
            </a:pPr>
            <a:r>
              <a:t>Fraudsters gain remote access to the victim device.</a:t>
            </a:r>
          </a:p>
          <a:p>
            <a:pPr>
              <a:defRPr sz="1800"/>
            </a:pPr>
            <a:r>
              <a:t>Banking credentials are stolen.</a:t>
            </a:r>
          </a:p>
          <a:p>
            <a:pPr>
              <a:defRPr sz="1800"/>
            </a:pPr>
            <a:r>
              <a:t>Tip: Never install remote access apps on instructions from strangers.</a:t>
            </a:r>
          </a:p>
        </p:txBody>
      </p:sp>
      <p:pic>
        <p:nvPicPr>
          <p:cNvPr id="4" name="Picture 3" descr="screen sharing 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57" y="2838993"/>
            <a:ext cx="7954486" cy="39101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8674"/>
            <a:ext cx="8229600" cy="1143000"/>
          </a:xfrm>
        </p:spPr>
        <p:txBody>
          <a:bodyPr/>
          <a:lstStyle/>
          <a:p>
            <a:pPr algn="ctr"/>
            <a:r>
              <a:t>SIM Swapping Fraud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1674"/>
            <a:ext cx="8229600" cy="1443446"/>
          </a:xfrm>
        </p:spPr>
        <p:txBody>
          <a:bodyPr/>
          <a:lstStyle/>
          <a:p>
            <a:pPr>
              <a:defRPr sz="1800"/>
            </a:pPr>
            <a:r>
              <a:t>Fraudsters obtain duplicate SIM cards.</a:t>
            </a:r>
          </a:p>
          <a:p>
            <a:pPr>
              <a:defRPr sz="1800"/>
            </a:pPr>
            <a:r>
              <a:t>OTP and banking alerts are diverted.</a:t>
            </a:r>
          </a:p>
          <a:p>
            <a:pPr>
              <a:defRPr sz="1800"/>
            </a:pPr>
            <a:r>
              <a:t>Victims lose access to mobile network temporarily.</a:t>
            </a:r>
          </a:p>
          <a:p>
            <a:pPr>
              <a:defRPr sz="1800"/>
            </a:pPr>
            <a:r>
              <a:t>Tip: Contact telecom operator immediately if SIM stops working.</a:t>
            </a:r>
          </a:p>
        </p:txBody>
      </p:sp>
      <p:pic>
        <p:nvPicPr>
          <p:cNvPr id="4" name="Picture 3" descr="sim card sw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57" y="3004456"/>
            <a:ext cx="7954486" cy="36663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t>Fake Social Media Account Fraud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426029"/>
          </a:xfrm>
        </p:spPr>
        <p:txBody>
          <a:bodyPr/>
          <a:lstStyle/>
          <a:p>
            <a:pPr>
              <a:defRPr sz="1800"/>
            </a:pPr>
            <a:r>
              <a:t>Fake profiles impersonate real people.</a:t>
            </a:r>
          </a:p>
          <a:p>
            <a:pPr>
              <a:defRPr sz="1800"/>
            </a:pPr>
            <a:r>
              <a:t>Friends are asked to send money during emergencies.</a:t>
            </a:r>
          </a:p>
          <a:p>
            <a:pPr>
              <a:defRPr sz="1800"/>
            </a:pPr>
            <a:r>
              <a:t>Victims trust the fake identity.</a:t>
            </a:r>
          </a:p>
          <a:p>
            <a:pPr>
              <a:defRPr sz="1800"/>
            </a:pPr>
            <a:r>
              <a:t>Tip: Verify requests by direct phone calls.</a:t>
            </a:r>
          </a:p>
        </p:txBody>
      </p:sp>
      <p:pic>
        <p:nvPicPr>
          <p:cNvPr id="4" name="Picture 3" descr="fake social media 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04" y="3509553"/>
            <a:ext cx="7992591" cy="30828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1257"/>
            <a:ext cx="8229600" cy="1143000"/>
          </a:xfrm>
        </p:spPr>
        <p:txBody>
          <a:bodyPr/>
          <a:lstStyle/>
          <a:p>
            <a:pPr algn="ctr"/>
            <a:r>
              <a:t>ATM/Debit Card Cloning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4257"/>
            <a:ext cx="8229600" cy="1382485"/>
          </a:xfrm>
        </p:spPr>
        <p:txBody>
          <a:bodyPr/>
          <a:lstStyle/>
          <a:p>
            <a:pPr>
              <a:defRPr sz="1800"/>
            </a:pPr>
            <a:r>
              <a:t>Skimming devices copy card information.</a:t>
            </a:r>
          </a:p>
          <a:p>
            <a:pPr>
              <a:defRPr sz="1800"/>
            </a:pPr>
            <a:r>
              <a:t>Hidden cameras capture ATM PINs.</a:t>
            </a:r>
          </a:p>
          <a:p>
            <a:pPr>
              <a:defRPr sz="1800"/>
            </a:pPr>
            <a:r>
              <a:t>Fraudsters clone cards and withdraw money.</a:t>
            </a:r>
          </a:p>
          <a:p>
            <a:pPr>
              <a:defRPr sz="1800"/>
            </a:pPr>
            <a:r>
              <a:t>Tip: Cover keypad while entering PIN.</a:t>
            </a:r>
          </a:p>
        </p:txBody>
      </p:sp>
      <p:pic>
        <p:nvPicPr>
          <p:cNvPr id="4" name="Picture 3" descr="atm debit card cl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10" y="2786742"/>
            <a:ext cx="7916380" cy="37011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840"/>
            <a:ext cx="8229600" cy="1143000"/>
          </a:xfrm>
        </p:spPr>
        <p:txBody>
          <a:bodyPr/>
          <a:lstStyle/>
          <a:p>
            <a:pPr algn="ctr"/>
            <a:r>
              <a:t>Ransomware &amp; Device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891" y="1386840"/>
            <a:ext cx="8229600" cy="1426029"/>
          </a:xfrm>
        </p:spPr>
        <p:txBody>
          <a:bodyPr/>
          <a:lstStyle/>
          <a:p>
            <a:pPr>
              <a:defRPr sz="1800"/>
            </a:pPr>
            <a:r>
              <a:t>Malicious emails or downloads infect systems.</a:t>
            </a:r>
          </a:p>
          <a:p>
            <a:pPr>
              <a:defRPr sz="1800"/>
            </a:pPr>
            <a:r>
              <a:t>Files get encrypted and ransom is demanded.</a:t>
            </a:r>
          </a:p>
          <a:p>
            <a:pPr>
              <a:defRPr sz="1800"/>
            </a:pPr>
            <a:r>
              <a:t>Hackers steal or destroy personal data.</a:t>
            </a:r>
          </a:p>
          <a:p>
            <a:pPr>
              <a:defRPr sz="1800"/>
            </a:pPr>
            <a:r>
              <a:t>Tip: Use antivirus and avoid suspicious links.</a:t>
            </a:r>
          </a:p>
        </p:txBody>
      </p:sp>
      <p:pic>
        <p:nvPicPr>
          <p:cNvPr id="4" name="Picture 3" descr="rans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67" y="2812869"/>
            <a:ext cx="7983065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8674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smtClean="0"/>
              <a:t>Mobile </a:t>
            </a:r>
            <a:r>
              <a:t>App Fraud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6" y="1421674"/>
            <a:ext cx="8229600" cy="1103811"/>
          </a:xfrm>
        </p:spPr>
        <p:txBody>
          <a:bodyPr/>
          <a:lstStyle/>
          <a:p>
            <a:pPr>
              <a:defRPr sz="1800"/>
            </a:pPr>
            <a:r>
              <a:rPr smtClean="0"/>
              <a:t>Fake </a:t>
            </a:r>
            <a:r>
              <a:t>apps gain access to contacts and banking data.</a:t>
            </a:r>
          </a:p>
          <a:p>
            <a:pPr>
              <a:defRPr sz="1800"/>
            </a:pPr>
            <a:r>
              <a:t>Example: Apps asking unnecessary permissions.</a:t>
            </a:r>
          </a:p>
          <a:p>
            <a:pPr>
              <a:defRPr sz="1800"/>
            </a:pPr>
            <a:r>
              <a:t>Tip: Install apps only from trusted stores.</a:t>
            </a:r>
          </a:p>
        </p:txBody>
      </p:sp>
      <p:pic>
        <p:nvPicPr>
          <p:cNvPr id="4" name="Picture 3" descr="mobile app fra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46" y="2786743"/>
            <a:ext cx="7906854" cy="33151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7383"/>
            <a:ext cx="8229600" cy="1143000"/>
          </a:xfrm>
        </p:spPr>
        <p:txBody>
          <a:bodyPr/>
          <a:lstStyle/>
          <a:p>
            <a:pPr algn="ctr"/>
            <a:r>
              <a:t>Lottery &amp; Online Job Fraud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430383"/>
            <a:ext cx="8229600" cy="1399903"/>
          </a:xfrm>
        </p:spPr>
        <p:txBody>
          <a:bodyPr/>
          <a:lstStyle/>
          <a:p>
            <a:pPr>
              <a:defRPr sz="1800"/>
            </a:pPr>
            <a:r>
              <a:t>Victims receive fake lottery or job offers.</a:t>
            </a:r>
          </a:p>
          <a:p>
            <a:pPr>
              <a:defRPr sz="1800"/>
            </a:pPr>
            <a:r>
              <a:t>Fraudsters demand registration or processing fees.</a:t>
            </a:r>
          </a:p>
          <a:p>
            <a:pPr>
              <a:defRPr sz="1800"/>
            </a:pPr>
            <a:r>
              <a:t>Victims lose money without receiving benefits.</a:t>
            </a:r>
          </a:p>
          <a:p>
            <a:pPr>
              <a:defRPr sz="1800"/>
            </a:pPr>
            <a:r>
              <a:t>Tip: Never pay advance money for prizes or jobs.</a:t>
            </a:r>
          </a:p>
        </p:txBody>
      </p:sp>
      <p:pic>
        <p:nvPicPr>
          <p:cNvPr id="4" name="Picture 3" descr="lottery fra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36" y="2830286"/>
            <a:ext cx="7716327" cy="37808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9966"/>
            <a:ext cx="8229600" cy="1143000"/>
          </a:xfrm>
        </p:spPr>
        <p:txBody>
          <a:bodyPr/>
          <a:lstStyle/>
          <a:p>
            <a:pPr algn="ctr"/>
            <a:r>
              <a:t>General Cyber Safety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474" y="1412966"/>
            <a:ext cx="8229600" cy="531005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  <a:defRPr sz="1800"/>
            </a:pPr>
            <a:r>
              <a:rPr sz="2800"/>
              <a:t>Use strong passwords and enable two-factor authentication.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2800"/>
              <a:t>Keep antivirus, operating systems and apps updated.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2800"/>
              <a:t>Avoid clicking suspicious links or downloading unknown files.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2800"/>
              <a:t>Do not share personal information on social media.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2800"/>
              <a:t>Use official websites and trusted applications only.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2800"/>
              <a:t>Regularly monitor banking and wallet transactions.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1257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sz="3500"/>
              <a:t>Safety Tips for Children, Parents &amp; Women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0754"/>
            <a:ext cx="8229600" cy="486809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  <a:defRPr sz="1800"/>
            </a:pPr>
            <a:r>
              <a:rPr sz="2800"/>
              <a:t>Children should avoid sharing personal details online.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2800"/>
              <a:t>Parents should monitor children's online activities.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2800"/>
              <a:t>Women should maintain strict privacy settings on social media.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2800"/>
              <a:t>Avoid accepting requests from unknown people online.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2800"/>
              <a:t>Report harassment and cyber bullying immediately.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5097"/>
            <a:ext cx="8229600" cy="1143000"/>
          </a:xfrm>
        </p:spPr>
        <p:txBody>
          <a:bodyPr/>
          <a:lstStyle/>
          <a:p>
            <a:pPr algn="ctr"/>
            <a:r>
              <a:t>How to Report Cyber Crime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38912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  <a:defRPr sz="1800"/>
            </a:pPr>
            <a:r>
              <a:rPr sz="3200" smtClean="0"/>
              <a:t>Online </a:t>
            </a:r>
            <a:r>
              <a:rPr sz="3200"/>
              <a:t>complaints can be lodged </a:t>
            </a:r>
            <a:r>
              <a:rPr sz="3200"/>
              <a:t>at </a:t>
            </a:r>
            <a:r>
              <a:rPr lang="en-US" sz="3200" dirty="0" smtClean="0"/>
              <a:t>"</a:t>
            </a:r>
            <a:r>
              <a:rPr sz="3200" smtClean="0"/>
              <a:t>cybercrime.gov.in</a:t>
            </a:r>
            <a:r>
              <a:rPr lang="en-US" sz="3200" dirty="0" smtClean="0"/>
              <a:t>" or call 1930.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lang="en-US" sz="3200" dirty="0" smtClean="0"/>
              <a:t>Cybercrime complaints can be filed at nearest Police Station</a:t>
            </a:r>
            <a:r>
              <a:rPr lang="en-US" sz="3200" dirty="0" smtClean="0"/>
              <a:t>.</a:t>
            </a:r>
            <a:endParaRPr sz="3200"/>
          </a:p>
          <a:p>
            <a:pPr>
              <a:buFont typeface="Wingdings" pitchFamily="2" charset="2"/>
              <a:buChar char="v"/>
              <a:defRPr sz="1800"/>
            </a:pPr>
            <a:r>
              <a:rPr sz="3200"/>
              <a:t>Preserve screenshots, URLs, transaction details and suspicious messages.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3200"/>
              <a:t>Report fraud quickly to improve chances of recovery.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49234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Social Media Sensitivity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39"/>
            <a:ext cx="8229600" cy="50422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Think before posting or sharing anything online. 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Respect </a:t>
            </a:r>
            <a:r>
              <a:rPr lang="en-US" dirty="0" smtClean="0"/>
              <a:t>others’ privacy, opinions, and feelings on social media. 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Avoid </a:t>
            </a:r>
            <a:r>
              <a:rPr lang="en-US" dirty="0" smtClean="0"/>
              <a:t>posting offensive, abusive, or misleading content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Do </a:t>
            </a:r>
            <a:r>
              <a:rPr lang="en-US" dirty="0" smtClean="0"/>
              <a:t>not share fake news or unverified information. 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Be </a:t>
            </a:r>
            <a:r>
              <a:rPr lang="en-US" dirty="0" smtClean="0"/>
              <a:t>careful while sharing personal photos and videos. 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Maintain </a:t>
            </a:r>
            <a:r>
              <a:rPr lang="en-US" dirty="0" smtClean="0"/>
              <a:t>polite and responsible online behavior. 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Avoid </a:t>
            </a:r>
            <a:r>
              <a:rPr lang="en-US" dirty="0" smtClean="0"/>
              <a:t>cyber bullying, trolling, and online harassment. 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Use </a:t>
            </a:r>
            <a:r>
              <a:rPr lang="en-US" dirty="0" smtClean="0"/>
              <a:t>privacy settings to protect personal information. 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Do </a:t>
            </a:r>
            <a:r>
              <a:rPr lang="en-US" dirty="0" smtClean="0"/>
              <a:t>not accept friend requests from unknown people. 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Report </a:t>
            </a:r>
            <a:r>
              <a:rPr lang="en-US" dirty="0" smtClean="0"/>
              <a:t>harmful, fake, or suspicious social media activities. Understand that online actions can have real-life </a:t>
            </a:r>
            <a:r>
              <a:rPr lang="en-US" dirty="0" smtClean="0"/>
              <a:t>consequences.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Promote </a:t>
            </a:r>
            <a:r>
              <a:rPr lang="en-US" dirty="0" smtClean="0"/>
              <a:t>positive and safe digital communication.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4469"/>
            <a:ext cx="8229600" cy="1143000"/>
          </a:xfrm>
        </p:spPr>
        <p:txBody>
          <a:bodyPr/>
          <a:lstStyle/>
          <a:p>
            <a:pPr algn="ctr"/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4629"/>
            <a:ext cx="8229600" cy="491163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  <a:defRPr sz="1800"/>
            </a:pPr>
            <a:r>
              <a:rPr sz="2000"/>
              <a:t>Cyber awareness is the first line of defense against cybercrime.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2000"/>
              <a:t>Most frauds succeed because of negligence or lack of awareness.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sz="2000"/>
              <a:t>Safe digital practices can prevent financial and </a:t>
            </a:r>
            <a:r>
              <a:rPr sz="2000"/>
              <a:t>personal </a:t>
            </a:r>
            <a:r>
              <a:rPr sz="2000" smtClean="0"/>
              <a:t>loss.</a:t>
            </a:r>
            <a:endParaRPr lang="en-US" sz="2000" dirty="0" smtClean="0"/>
          </a:p>
          <a:p>
            <a:pPr>
              <a:buFont typeface="Wingdings" pitchFamily="2" charset="2"/>
              <a:buChar char="v"/>
              <a:defRPr sz="1800"/>
            </a:pPr>
            <a:r>
              <a:rPr lang="en-US" sz="2000" dirty="0" smtClean="0"/>
              <a:t>Cyber awareness helps protect against online frauds and cyber crimes</a:t>
            </a:r>
            <a:r>
              <a:rPr lang="en-US" sz="2000" dirty="0" smtClean="0"/>
              <a:t>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lang="en-US" sz="2000" dirty="0" smtClean="0"/>
              <a:t> </a:t>
            </a:r>
            <a:r>
              <a:rPr lang="en-US" sz="2000" dirty="0" smtClean="0"/>
              <a:t>Safe internet practices reduce risks of hacking and data theft</a:t>
            </a:r>
            <a:r>
              <a:rPr lang="en-US" sz="2000" dirty="0" smtClean="0"/>
              <a:t>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lang="en-US" sz="2000" dirty="0" smtClean="0"/>
              <a:t> Never share personal, banking, or confidential information online. 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lang="en-US" sz="2000" dirty="0" smtClean="0"/>
              <a:t>Strong </a:t>
            </a:r>
            <a:r>
              <a:rPr lang="en-US" sz="2000" dirty="0" smtClean="0"/>
              <a:t>passwords and privacy settings improve online security. </a:t>
            </a:r>
            <a:endParaRPr lang="en-US" sz="2000" dirty="0" smtClean="0"/>
          </a:p>
          <a:p>
            <a:pPr>
              <a:buFont typeface="Wingdings" pitchFamily="2" charset="2"/>
              <a:buChar char="v"/>
              <a:defRPr sz="1800"/>
            </a:pPr>
            <a:r>
              <a:rPr lang="en-US" sz="2000" dirty="0" smtClean="0"/>
              <a:t>Avoid </a:t>
            </a:r>
            <a:r>
              <a:rPr lang="en-US" sz="2000" dirty="0" smtClean="0"/>
              <a:t>fake links, unknown friend requests, and suspicious messages. </a:t>
            </a:r>
            <a:endParaRPr lang="en-US" sz="2000" dirty="0" smtClean="0"/>
          </a:p>
          <a:p>
            <a:pPr>
              <a:buFont typeface="Wingdings" pitchFamily="2" charset="2"/>
              <a:buChar char="v"/>
              <a:defRPr sz="1800"/>
            </a:pPr>
            <a:r>
              <a:rPr lang="en-US" sz="2000" dirty="0" smtClean="0"/>
              <a:t>Respect </a:t>
            </a:r>
            <a:r>
              <a:rPr lang="en-US" sz="2000" dirty="0" smtClean="0"/>
              <a:t>others online and maintain digital ethics. </a:t>
            </a:r>
            <a:endParaRPr lang="en-US" sz="2000" dirty="0" smtClean="0"/>
          </a:p>
          <a:p>
            <a:pPr>
              <a:buFont typeface="Wingdings" pitchFamily="2" charset="2"/>
              <a:buChar char="v"/>
              <a:defRPr sz="1800"/>
            </a:pPr>
            <a:r>
              <a:rPr lang="en-US" sz="2000" dirty="0" smtClean="0"/>
              <a:t>Timely </a:t>
            </a:r>
            <a:r>
              <a:rPr lang="en-US" sz="2000" dirty="0" smtClean="0"/>
              <a:t>reporting of cyber crimes helps prevent further frauds. </a:t>
            </a:r>
            <a:endParaRPr lang="en-US" sz="2000" dirty="0" smtClean="0"/>
          </a:p>
          <a:p>
            <a:pPr>
              <a:buFont typeface="Wingdings" pitchFamily="2" charset="2"/>
              <a:buChar char="v"/>
              <a:defRPr sz="1800"/>
            </a:pPr>
            <a:r>
              <a:rPr lang="en-US" sz="2000" dirty="0" smtClean="0"/>
              <a:t>Awareness </a:t>
            </a:r>
            <a:r>
              <a:rPr lang="en-US" sz="2000" dirty="0" smtClean="0"/>
              <a:t>and vigilance are key to a safe digital life</a:t>
            </a:r>
            <a:r>
              <a:rPr lang="en-US" sz="2000" dirty="0" smtClean="0"/>
              <a:t>.</a:t>
            </a:r>
          </a:p>
          <a:p>
            <a:pPr>
              <a:buFont typeface="Wingdings" pitchFamily="2" charset="2"/>
              <a:buChar char="v"/>
              <a:defRPr sz="1800"/>
            </a:pPr>
            <a:r>
              <a:rPr lang="en-US" sz="2000" dirty="0" smtClean="0"/>
              <a:t>Stay alert, stay informed and report suspicious activities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455817"/>
            <a:ext cx="7851648" cy="1828800"/>
          </a:xfrm>
        </p:spPr>
        <p:txBody>
          <a:bodyPr>
            <a:noAutofit/>
          </a:bodyPr>
          <a:lstStyle/>
          <a:p>
            <a:pPr algn="ctr"/>
            <a:r>
              <a:rPr lang="en-US" sz="12500" dirty="0" smtClean="0"/>
              <a:t/>
            </a:r>
            <a:br>
              <a:rPr lang="en-US" sz="12500" dirty="0" smtClean="0"/>
            </a:br>
            <a:r>
              <a:rPr lang="en-US" sz="12500" dirty="0" smtClean="0"/>
              <a:t/>
            </a:r>
            <a:br>
              <a:rPr lang="en-US" sz="12500" dirty="0" smtClean="0"/>
            </a:br>
            <a:r>
              <a:rPr lang="en-US" sz="12500" dirty="0" smtClean="0"/>
              <a:t/>
            </a:r>
            <a:br>
              <a:rPr lang="en-US" sz="12500" dirty="0" smtClean="0"/>
            </a:br>
            <a:r>
              <a:rPr sz="12500" smtClean="0"/>
              <a:t>Thank </a:t>
            </a:r>
            <a:r>
              <a:rPr sz="12500"/>
              <a:t>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69</TotalTime>
  <Words>922</Words>
  <Application>Microsoft Macintosh PowerPoint</Application>
  <PresentationFormat>On-screen Show (4:3)</PresentationFormat>
  <Paragraphs>118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Flow</vt:lpstr>
      <vt:lpstr>Cyber Awarenes &amp;  Social Media Sensitivity</vt:lpstr>
      <vt:lpstr>Contents</vt:lpstr>
      <vt:lpstr>Objectives of Cyber Awareness</vt:lpstr>
      <vt:lpstr>CVV/OTP Sharing Fraud</vt:lpstr>
      <vt:lpstr>UPI &amp; QR Code Fraud</vt:lpstr>
      <vt:lpstr>OLX / E-Commerce Fraud</vt:lpstr>
      <vt:lpstr>Screen Sharing App Fraud</vt:lpstr>
      <vt:lpstr>SIM Swapping Fraud</vt:lpstr>
      <vt:lpstr>Fake Social Media Account Fraud</vt:lpstr>
      <vt:lpstr>ATM/Debit Card Cloning</vt:lpstr>
      <vt:lpstr>Ransomware &amp; Device Hacking</vt:lpstr>
      <vt:lpstr>Mobile App Fraud</vt:lpstr>
      <vt:lpstr>Lottery &amp; Online Job Fraud</vt:lpstr>
      <vt:lpstr>General Cyber Safety Tips</vt:lpstr>
      <vt:lpstr>Safety Tips for Children, Parents &amp; Women</vt:lpstr>
      <vt:lpstr>How to Report Cyber Crime</vt:lpstr>
      <vt:lpstr>Social Media Sensitivity </vt:lpstr>
      <vt:lpstr>Conclusion</vt:lpstr>
      <vt:lpstr>   Thank You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Security Awarenes &amp; Social Media Sensitivity</dc:title>
  <dc:creator>USER</dc:creator>
  <dc:description>generated using python-pptx</dc:description>
  <cp:lastModifiedBy>USER</cp:lastModifiedBy>
  <cp:revision>12</cp:revision>
  <dcterms:created xsi:type="dcterms:W3CDTF">2013-01-27T09:14:16Z</dcterms:created>
  <dcterms:modified xsi:type="dcterms:W3CDTF">2026-05-22T14:03:20Z</dcterms:modified>
</cp:coreProperties>
</file>